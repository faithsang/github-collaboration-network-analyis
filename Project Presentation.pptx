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Economica"/>
      <p:regular r:id="rId19"/>
      <p:bold r:id="rId20"/>
      <p:italic r:id="rId21"/>
      <p:boldItalic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bold.fntdata"/><Relationship Id="rId22" Type="http://schemas.openxmlformats.org/officeDocument/2006/relationships/font" Target="fonts/Economica-boldItalic.fntdata"/><Relationship Id="rId21" Type="http://schemas.openxmlformats.org/officeDocument/2006/relationships/font" Target="fonts/Economica-italic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Economica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6f83aa9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6f83aa9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241774c2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241774c2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241774c2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241774c2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c6f83aa9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c6f83aa9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83aa9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83aa9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83aa9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c6f83aa9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6f83aa91_0_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6f83aa9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241774c2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241774c2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241774c2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241774c2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241774c2d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241774c2d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241774c2d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241774c2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c6f83aa91_0_9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c6f83aa9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8031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 Network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6967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612"/>
              <a:t>By Faith Sang</a:t>
            </a:r>
            <a:endParaRPr sz="1612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612"/>
              <a:t>Tuid: 916528214</a:t>
            </a:r>
            <a:endParaRPr sz="1612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612"/>
              <a:t>Email: faith.sang@temple.edu</a:t>
            </a:r>
            <a:endParaRPr sz="1612"/>
          </a:p>
        </p:txBody>
      </p:sp>
      <p:pic>
        <p:nvPicPr>
          <p:cNvPr id="64" name="Google Shape;64;p13" title="GitHub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8350" y="767400"/>
            <a:ext cx="1975752" cy="85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is the world’s largest open-source platform, enabling millions of developers to collaborate through code </a:t>
            </a:r>
            <a:r>
              <a:rPr lang="en"/>
              <a:t>sharing</a:t>
            </a:r>
            <a:r>
              <a:rPr lang="en"/>
              <a:t>, forking and following.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has revolutionized open-source collaboration, c</a:t>
            </a:r>
            <a:r>
              <a:rPr lang="en"/>
              <a:t>onnecting</a:t>
            </a:r>
            <a:r>
              <a:rPr lang="en"/>
              <a:t> developers globally through shared code and diverse programming languages.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While collaboration with in single language communities is well-studied, cross language contribution remains unexplored.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&amp; Objectives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project investigates how developers works across multiple programming languages and how some act as bridges between distinct language communities.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By modelling a GitHub as a social network we aim to uncover: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The structure &amp; patterns of collaboration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Key contributors (developers)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Impact of multilingual collaboration on software development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149250" y="393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225225"/>
            <a:ext cx="4887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was collected through the GitHub REST API.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A query was done to get the top 100 starred repositories written in </a:t>
            </a:r>
            <a:r>
              <a:rPr b="1" lang="en"/>
              <a:t>PYTHON</a:t>
            </a:r>
            <a:endParaRPr b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For each repository we fetched top 10 contributors based on their number of contributions. (989)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 We retrieved all public repositories associated with each contributor.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For each repository we extracted primary language used 14,310(build multilingual profile)</a:t>
            </a:r>
            <a:endParaRPr/>
          </a:p>
        </p:txBody>
      </p:sp>
      <p:pic>
        <p:nvPicPr>
          <p:cNvPr id="83" name="Google Shape;83;p16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8700" y="1052025"/>
            <a:ext cx="3945299" cy="107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 title="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8700" y="2283200"/>
            <a:ext cx="3945299" cy="129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 title="user_language_repos - Excel 4_16_2025 12_45_32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8700" y="3722125"/>
            <a:ext cx="3945299" cy="12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1462100" y="516475"/>
            <a:ext cx="7087800" cy="97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Pre-processing</a:t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565550" y="1801575"/>
            <a:ext cx="4850400" cy="27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➢"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Merged the datasets to match contributors from the 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original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Python repos with the other languages they had works with.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➢"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Our focus is on cross-language contributions, we filter out repositories 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where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language was python.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➢"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contained supporting tools like </a:t>
            </a: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Jupyter Notebook marked as programming languages. This was filtered out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➢"/>
            </a:pPr>
            <a:r>
              <a:rPr lang="en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cleaned data is now what was used for analysis.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2" name="Google Shape;92;p17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8350" y="1645375"/>
            <a:ext cx="3118450" cy="20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2" type="body"/>
          </p:nvPr>
        </p:nvSpPr>
        <p:spPr>
          <a:xfrm>
            <a:off x="4939500" y="146975"/>
            <a:ext cx="3837000" cy="485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Economica"/>
                <a:ea typeface="Economica"/>
                <a:cs typeface="Economica"/>
                <a:sym typeface="Economica"/>
              </a:rPr>
              <a:t>Heterogeneous</a:t>
            </a:r>
            <a:r>
              <a:rPr b="1" lang="en" sz="2800">
                <a:latin typeface="Economica"/>
                <a:ea typeface="Economica"/>
                <a:cs typeface="Economica"/>
                <a:sym typeface="Economica"/>
              </a:rPr>
              <a:t> Graph</a:t>
            </a:r>
            <a:endParaRPr sz="2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Two distinct set of nodes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Developers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Programming languages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Edges </a:t>
            </a:r>
            <a:r>
              <a:rPr lang="en" sz="1500"/>
              <a:t>connect</a:t>
            </a:r>
            <a:r>
              <a:rPr lang="en" sz="1500"/>
              <a:t> to nodes </a:t>
            </a:r>
            <a:r>
              <a:rPr lang="en" sz="1500"/>
              <a:t>of different types</a:t>
            </a:r>
            <a:r>
              <a:rPr lang="en" sz="1500"/>
              <a:t>( developer to language)</a:t>
            </a:r>
            <a:endParaRPr sz="15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Graph with 844 nodes and 2461 edges.</a:t>
            </a:r>
            <a:endParaRPr sz="1500"/>
          </a:p>
        </p:txBody>
      </p:sp>
      <p:pic>
        <p:nvPicPr>
          <p:cNvPr id="98" name="Google Shape;98;p18" title="project - Google Chrome 4_16_2025 2_03_3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81200"/>
            <a:ext cx="4353376" cy="3381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9" title="project - Google Chrome 4_16_2025 2_08_2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419601" cy="241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 title="project - Google Chrome 4_16_2025 2_16_26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152400"/>
            <a:ext cx="4267200" cy="2139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 title="project - Google Chrome 4_16_2025 2_18_56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1501" y="2571749"/>
            <a:ext cx="3412424" cy="254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idx="2" type="body"/>
          </p:nvPr>
        </p:nvSpPr>
        <p:spPr>
          <a:xfrm>
            <a:off x="4939500" y="100575"/>
            <a:ext cx="3837000" cy="431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Economica"/>
                <a:ea typeface="Economica"/>
                <a:cs typeface="Economica"/>
                <a:sym typeface="Economica"/>
              </a:rPr>
              <a:t>From the graphs we observe:</a:t>
            </a:r>
            <a:endParaRPr b="1" sz="26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Influential </a:t>
            </a:r>
            <a:r>
              <a:rPr lang="en"/>
              <a:t>connectors: Developers that are highly active and influential in the GitHub community.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Top Languages: The languages that many Python developers also work with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Top 10 developers are not confined to a single language rather actively contribute across different domains.</a:t>
            </a:r>
            <a:endParaRPr/>
          </a:p>
        </p:txBody>
      </p:sp>
      <p:pic>
        <p:nvPicPr>
          <p:cNvPr id="111" name="Google Shape;111;p20" title="project - Google Chrome 4_16_2025 2_36_25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8875"/>
            <a:ext cx="4572001" cy="494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/>
        </p:nvSpPr>
        <p:spPr>
          <a:xfrm>
            <a:off x="371325" y="239825"/>
            <a:ext cx="7473000" cy="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Community Detection(</a:t>
            </a:r>
            <a:r>
              <a:rPr lang="en"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Louvain</a:t>
            </a:r>
            <a:r>
              <a:rPr lang="en"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Algorithm)</a:t>
            </a:r>
            <a:endParaRPr sz="42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17" name="Google Shape;117;p21" title="project - Google Chrome 4_16_2025 5_32_07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74225"/>
            <a:ext cx="4419601" cy="371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 title="project - Google Chrome 4_16_2025 5_37_36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1274225"/>
            <a:ext cx="4267200" cy="3716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Economica"/>
                <a:ea typeface="Economica"/>
                <a:cs typeface="Economica"/>
                <a:sym typeface="Economica"/>
              </a:rPr>
              <a:t>Community Detection</a:t>
            </a:r>
            <a:endParaRPr b="1" sz="2800">
              <a:latin typeface="Economica"/>
              <a:ea typeface="Economica"/>
              <a:cs typeface="Economica"/>
              <a:sym typeface="Economica"/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11 communities emerged, ranging from 37 to 123 nodes, reflecting developers who share similar cross-language interests.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These clusters could correspond to technology stacks like community 8 can be </a:t>
            </a:r>
            <a:r>
              <a:rPr lang="en"/>
              <a:t>said</a:t>
            </a:r>
            <a:r>
              <a:rPr lang="en"/>
              <a:t> to be  data engineering focused and community 10 can be ML infrastructure/ mobile-backend data apps focused.</a:t>
            </a:r>
            <a:endParaRPr/>
          </a:p>
        </p:txBody>
      </p:sp>
      <p:pic>
        <p:nvPicPr>
          <p:cNvPr id="124" name="Google Shape;124;p22" title="project - Google Chrome 4_16_2025 5_45_3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400"/>
            <a:ext cx="4492826" cy="233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project - Google Chrome 4_16_2025 10_26_09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636350"/>
            <a:ext cx="4262950" cy="22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Economica"/>
                <a:ea typeface="Economica"/>
                <a:cs typeface="Economica"/>
                <a:sym typeface="Economica"/>
              </a:rPr>
              <a:t>Betweenness Centrality</a:t>
            </a:r>
            <a:endParaRPr b="1" sz="3200">
              <a:latin typeface="Economica"/>
              <a:ea typeface="Economica"/>
              <a:cs typeface="Economica"/>
              <a:sym typeface="Economica"/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The highest among </a:t>
            </a:r>
            <a:r>
              <a:rPr lang="en"/>
              <a:t>multilingual</a:t>
            </a:r>
            <a:r>
              <a:rPr lang="en"/>
              <a:t> developers, indicating they sit on the most shortest path across language communities.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The developer bridges 10 language communities by being the shortest path across the network.</a:t>
            </a:r>
            <a:endParaRPr/>
          </a:p>
        </p:txBody>
      </p:sp>
      <p:pic>
        <p:nvPicPr>
          <p:cNvPr id="131" name="Google Shape;131;p23" title="project - Google Chrome 4_16_2025 6_39_3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425"/>
            <a:ext cx="4492725" cy="502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/>
        </p:nvSpPr>
        <p:spPr>
          <a:xfrm>
            <a:off x="487375" y="19107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rPr>
              <a:t> Impact</a:t>
            </a:r>
            <a:endParaRPr b="1" sz="3300">
              <a:solidFill>
                <a:schemeClr val="lt2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404550" y="883775"/>
            <a:ext cx="8334900" cy="4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b="1" lang="en" sz="1800">
                <a:solidFill>
                  <a:schemeClr val="dk1"/>
                </a:solidFill>
              </a:rPr>
              <a:t>Enhanced Interoperability</a:t>
            </a:r>
            <a:br>
              <a:rPr b="1"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Developers contribute in 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various languages, enabling seamless integration of diverse systems (Django Rest backend with REACT js frontend)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project analyzes GitHub collaboration networks and identifies communities of developers working in multiple languages.</a:t>
            </a:r>
            <a:endParaRPr i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</a:pP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By mapping these language intersections, it reveals how diverse tech stacks come together in real-world development.</a:t>
            </a:r>
            <a:b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b="1" lang="en" sz="1800">
                <a:solidFill>
                  <a:schemeClr val="dk1"/>
                </a:solidFill>
              </a:rPr>
              <a:t>Broader Collaboration &amp; Innovation</a:t>
            </a:r>
            <a:br>
              <a:rPr b="1"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 Cross-language teamwork encourages knowledge exchange, fostering creativity and richer software solutions.</a:t>
            </a:r>
            <a:endParaRPr sz="18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i="1" lang="en">
                <a:solidFill>
                  <a:schemeClr val="dk1"/>
                </a:solidFill>
              </a:rPr>
              <a:t>through</a:t>
            </a:r>
            <a:r>
              <a:rPr i="1" lang="en">
                <a:solidFill>
                  <a:schemeClr val="dk1"/>
                </a:solidFill>
              </a:rPr>
              <a:t> community detection and language profiling, the project highlights how multilingual teams form naturally.</a:t>
            </a:r>
            <a:endParaRPr i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i="1" lang="en">
                <a:solidFill>
                  <a:schemeClr val="dk1"/>
                </a:solidFill>
              </a:rPr>
              <a:t>This shows how developers with different language expertise collaborate, fostering innovation.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555600"/>
            <a:ext cx="7883700" cy="9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300">
                <a:solidFill>
                  <a:schemeClr val="lt2"/>
                </a:solidFill>
              </a:rPr>
              <a:t>Thank you !</a:t>
            </a:r>
            <a:endParaRPr b="1" sz="6300">
              <a:solidFill>
                <a:schemeClr val="lt2"/>
              </a:solidFill>
            </a:endParaRPr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2571750"/>
            <a:ext cx="7403700" cy="16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/>
              <a:t>Questions ?</a:t>
            </a:r>
            <a:endParaRPr b="1"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